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227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840480" cy="3840480"/>
          </a:xfrm>
          <a:prstGeom prst="ellipse">
            <a:avLst/>
          </a:prstGeom>
          <a:solidFill>
            <a:srgbClr val="1227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FUSION AI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914400" cy="4572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461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Cybersecurity Telemetry &amp; Transaction Correlation Engine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brain that watches money, machines, people and the post-quantum future — fusing every signal into a single explainable verdict in under 100 milliseconds.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5623560"/>
            <a:ext cx="10515600" cy="0"/>
          </a:xfrm>
          <a:prstGeom prst="line">
            <a:avLst/>
          </a:prstGeom>
          <a:noFill/>
          <a:ln w="12700">
            <a:solidFill>
              <a:srgbClr val="2436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06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SKILLHIVE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610819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innovation in AI &amp; cybersecurity to build secure, scalable, explainable banking solutions.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0" y="5806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07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492240" cy="4937760"/>
          </a:xfrm>
          <a:prstGeom prst="roundRect">
            <a:avLst>
              <a:gd name="adj" fmla="val 1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generate millions of cybersecurity telemetry events and financial transactions every day — but these streams are analyzed independently. That makes it nearly impossible to correlate a cyber event with transactional behaviour and catch sophisticated attacks such as account takeover, insider threats, credential compromise, financial fraud, and “Harvest-Now-Decrypt-Later” (HNDL) quantum threats in time.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monitoring lacks contextual intelligence — the result is high false positives, delayed detection, and verdicts nobody can explain.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4617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security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one missed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49040" y="4617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~0ms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74904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shared between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fraud, cyber &amp; identity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today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60920" y="1417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THIS PROBLEM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1874520"/>
            <a:ext cx="329184" cy="329184"/>
          </a:xfrm>
          <a:prstGeom prst="ellipse">
            <a:avLst/>
          </a:prstGeom>
          <a:solidFill>
            <a:srgbClr val="0A1B33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1874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18120" y="18470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critical challenge in modern banking security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2743200"/>
            <a:ext cx="329184" cy="329184"/>
          </a:xfrm>
          <a:prstGeom prst="ellipse">
            <a:avLst/>
          </a:prstGeom>
          <a:solidFill>
            <a:srgbClr val="0A1B33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27157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cybersecurity telemetry and transaction intelligence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3611880"/>
            <a:ext cx="329184" cy="329184"/>
          </a:xfrm>
          <a:prstGeom prst="ellipse">
            <a:avLst/>
          </a:prstGeom>
          <a:solidFill>
            <a:srgbClr val="0A1B33"/>
          </a:solidFill>
          <a:ln/>
        </p:spPr>
      </p:sp>
      <p:sp>
        <p:nvSpPr>
          <p:cNvPr id="19" name="Text 17"/>
          <p:cNvSpPr/>
          <p:nvPr/>
        </p:nvSpPr>
        <p:spPr>
          <a:xfrm>
            <a:off x="7360920" y="3611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18120" y="35844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AI-driven, contextual threat detection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60920" y="4480560"/>
            <a:ext cx="329184" cy="329184"/>
          </a:xfrm>
          <a:prstGeom prst="ellipse">
            <a:avLst/>
          </a:prstGeom>
          <a:solidFill>
            <a:srgbClr val="0A1B33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4480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18120" y="44531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emerging quantum (HNDL) risk proactively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60920" y="5349240"/>
            <a:ext cx="329184" cy="329184"/>
          </a:xfrm>
          <a:prstGeom prst="ellipse">
            <a:avLst/>
          </a:prstGeom>
          <a:solidFill>
            <a:srgbClr val="0A1B33"/>
          </a:solidFill>
          <a:ln/>
        </p:spPr>
      </p:sp>
      <p:sp>
        <p:nvSpPr>
          <p:cNvPr id="25" name="Text 23"/>
          <p:cNvSpPr/>
          <p:nvPr/>
        </p:nvSpPr>
        <p:spPr>
          <a:xfrm>
            <a:off x="7360920" y="5349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18120" y="53218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explainable AI with far fewer false positives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Pre-Requisite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Telemetry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logs (firewall, IDS/IPS, VPN), endpoint &amp; Windows/Linux logs, email security, Active Directory, authentication &amp; identity logs.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6636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Transaction Data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2402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card, ATM &amp; internet-banking activity, NEFT/RTGS, IMPS, beneficiary and account activity.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645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6112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Behaviour Signals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22402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time &amp; location, device fingerprint, IP reputation, session activity, transaction frequency, beneficiary history, spending behaviour.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A1B33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58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2,043,664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2960" y="4279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events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11880" y="3858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11880" y="4279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858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0" y="4279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domains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9720" y="3858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89720" y="4279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event schema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DATASETS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138928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UNSW-NB15 • BETH • CIC-IDS2017 • Credit-Card Fraud • PaySim • Bank Account Fraud • RBA Logins • CERT Insider • URLhaus • MITRE ATT&amp;CK • CISA KEV • Feodo Tracker • Malicious URLs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Synthetic: Quantum-Risk Simulation (HNDL scenarios)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or Resources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709160"/>
          </a:xfrm>
          <a:prstGeom prst="roundRect">
            <a:avLst>
              <a:gd name="adj" fmla="val 174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CORE — RESEARCH-GRADE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3.3.0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+ quantum models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8254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4.6.0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+ behaviour models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2095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1.9.0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&amp; metrics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5935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0.52.0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explainability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 / pyarrow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ruff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99-test suite, lint, gates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9632" y="1417320"/>
            <a:ext cx="5440680" cy="4709160"/>
          </a:xfrm>
          <a:prstGeom prst="roundRect">
            <a:avLst>
              <a:gd name="adj" fmla="val 174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19672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DELIVERY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19672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19672" y="24414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cache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19672" y="28254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19672" y="32095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Tailwind + Recharts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9672" y="35935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deployment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19672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VS Code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workflow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19672" y="4361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 on a laptop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Functional Documents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490472" cy="777240"/>
          </a:xfrm>
          <a:prstGeom prst="roundRect">
            <a:avLst>
              <a:gd name="adj" fmla="val 9412"/>
            </a:avLst>
          </a:prstGeom>
          <a:solidFill>
            <a:srgbClr val="0A1B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1490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39112" y="1645920"/>
            <a:ext cx="137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76272" y="1645920"/>
            <a:ext cx="1490472" cy="777240"/>
          </a:xfrm>
          <a:prstGeom prst="roundRect">
            <a:avLst>
              <a:gd name="adj" fmla="val 9412"/>
            </a:avLst>
          </a:prstGeom>
          <a:solidFill>
            <a:srgbClr val="0A1B33"/>
          </a:solidFill>
          <a:ln/>
        </p:spPr>
      </p:sp>
      <p:sp>
        <p:nvSpPr>
          <p:cNvPr id="8" name="Text 6"/>
          <p:cNvSpPr/>
          <p:nvPr/>
        </p:nvSpPr>
        <p:spPr>
          <a:xfrm>
            <a:off x="2176272" y="1645920"/>
            <a:ext cx="1490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66744" y="1645920"/>
            <a:ext cx="137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03904" y="1645920"/>
            <a:ext cx="1490472" cy="777240"/>
          </a:xfrm>
          <a:prstGeom prst="roundRect">
            <a:avLst>
              <a:gd name="adj" fmla="val 9412"/>
            </a:avLst>
          </a:prstGeom>
          <a:solidFill>
            <a:srgbClr val="0A1B33"/>
          </a:solidFill>
          <a:ln/>
        </p:spPr>
      </p:sp>
      <p:sp>
        <p:nvSpPr>
          <p:cNvPr id="11" name="Text 9"/>
          <p:cNvSpPr/>
          <p:nvPr/>
        </p:nvSpPr>
        <p:spPr>
          <a:xfrm>
            <a:off x="3803904" y="1645920"/>
            <a:ext cx="1490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94376" y="1645920"/>
            <a:ext cx="137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31536" y="1645920"/>
            <a:ext cx="1490472" cy="777240"/>
          </a:xfrm>
          <a:prstGeom prst="roundRect">
            <a:avLst>
              <a:gd name="adj" fmla="val 9412"/>
            </a:avLst>
          </a:prstGeom>
          <a:solidFill>
            <a:srgbClr val="0A1B33"/>
          </a:solidFill>
          <a:ln/>
        </p:spPr>
      </p:sp>
      <p:sp>
        <p:nvSpPr>
          <p:cNvPr id="14" name="Text 12"/>
          <p:cNvSpPr/>
          <p:nvPr/>
        </p:nvSpPr>
        <p:spPr>
          <a:xfrm>
            <a:off x="5431536" y="1645920"/>
            <a:ext cx="1490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22008" y="1645920"/>
            <a:ext cx="137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59168" y="1645920"/>
            <a:ext cx="1490472" cy="777240"/>
          </a:xfrm>
          <a:prstGeom prst="roundRect">
            <a:avLst>
              <a:gd name="adj" fmla="val 9412"/>
            </a:avLst>
          </a:prstGeom>
          <a:solidFill>
            <a:srgbClr val="0A1B33"/>
          </a:solidFill>
          <a:ln/>
        </p:spPr>
      </p:sp>
      <p:sp>
        <p:nvSpPr>
          <p:cNvPr id="17" name="Text 15"/>
          <p:cNvSpPr/>
          <p:nvPr/>
        </p:nvSpPr>
        <p:spPr>
          <a:xfrm>
            <a:off x="7059168" y="1645920"/>
            <a:ext cx="1490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9640" y="1645920"/>
            <a:ext cx="137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0" y="1645920"/>
            <a:ext cx="1490472" cy="777240"/>
          </a:xfrm>
          <a:prstGeom prst="roundRect">
            <a:avLst>
              <a:gd name="adj" fmla="val 9412"/>
            </a:avLst>
          </a:prstGeom>
          <a:solidFill>
            <a:srgbClr val="0A1B3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1645920"/>
            <a:ext cx="1490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177272" y="1645920"/>
            <a:ext cx="137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314432" y="1645920"/>
            <a:ext cx="1490472" cy="777240"/>
          </a:xfrm>
          <a:prstGeom prst="roundRect">
            <a:avLst>
              <a:gd name="adj" fmla="val 9412"/>
            </a:avLst>
          </a:prstGeom>
          <a:solidFill>
            <a:srgbClr val="EF476F"/>
          </a:solidFill>
          <a:ln/>
        </p:spPr>
      </p:sp>
      <p:sp>
        <p:nvSpPr>
          <p:cNvPr id="23" name="Text 21"/>
          <p:cNvSpPr/>
          <p:nvPr/>
        </p:nvSpPr>
        <p:spPr>
          <a:xfrm>
            <a:off x="10314432" y="1645920"/>
            <a:ext cx="1490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2697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MODULES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063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" y="3008376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—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cyber + transaction + behaviour input.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45352" y="30632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245352" y="3063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65976" y="3008376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leakage-safe, past-only AI-ready features.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77647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776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9264" y="3721608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—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specialists detect fraud, cyber, behaviour &amp; quantum risk.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45352" y="377647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245352" y="3776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65976" y="3721608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Engine —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events across all four domains.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4897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489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9264" y="4434840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—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Isotonic calibration + weighted noisy-OR fusion.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45352" y="44897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6245352" y="44897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65976" y="4434840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—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every decision in plain language.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520293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2029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69264" y="5148072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Engine — 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verdicts low / medium / high / critical &amp; prioritizes.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formula:  risk = 1 − Π(1 − wᵢ·pᵢ)   — one loud alarm escalates the verdict; quiet worries add up.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Differentiators &amp; Adoption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conventional SIEM and fraud-detection systems, Sentinel Fusion AI correlates cybersecurity telemetry with transactional behaviour to detect threats with higher accuracy, fewer false positives, and fully explainable AI-driven insights.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77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FEATURES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2788920"/>
            <a:ext cx="292608" cy="292608"/>
          </a:xfrm>
          <a:prstGeom prst="ellipse">
            <a:avLst/>
          </a:prstGeom>
          <a:solidFill>
            <a:srgbClr val="0A1B3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74320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+ transaction correlation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291840"/>
            <a:ext cx="292608" cy="292608"/>
          </a:xfrm>
          <a:prstGeom prst="ellipse">
            <a:avLst/>
          </a:prstGeom>
          <a:solidFill>
            <a:srgbClr val="0A1B3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91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behaviour analytics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794760"/>
            <a:ext cx="292608" cy="292608"/>
          </a:xfrm>
          <a:prstGeom prst="ellipse">
            <a:avLst/>
          </a:prstGeom>
          <a:solidFill>
            <a:srgbClr val="0A1B3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94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74904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(SHAP, per event)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297680"/>
            <a:ext cx="292608" cy="292608"/>
          </a:xfrm>
          <a:prstGeom prst="ellipse">
            <a:avLst/>
          </a:prstGeom>
          <a:solidFill>
            <a:srgbClr val="0A1B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97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425196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/ HNDL risk monitoring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4800600"/>
            <a:ext cx="292608" cy="292608"/>
          </a:xfrm>
          <a:prstGeom prst="ellipse">
            <a:avLst/>
          </a:prstGeom>
          <a:solidFill>
            <a:srgbClr val="0A1B3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00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75488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scoring, &lt;100ms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5303520"/>
            <a:ext cx="292608" cy="292608"/>
          </a:xfrm>
          <a:prstGeom prst="ellipse">
            <a:avLst/>
          </a:prstGeom>
          <a:solidFill>
            <a:srgbClr val="0A1B33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303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525780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scalable architecture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99632" y="214884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0A1B33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19672" y="2377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ROADMAP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19672" y="2788920"/>
            <a:ext cx="329184" cy="3291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28" name="Text 26"/>
          <p:cNvSpPr/>
          <p:nvPr/>
        </p:nvSpPr>
        <p:spPr>
          <a:xfrm>
            <a:off x="6519672" y="2788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67728" y="271576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
</a:t>
            </a:r>
            <a:pPr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sample banking data.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19672" y="3657600"/>
            <a:ext cx="329184" cy="3291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31" name="Text 29"/>
          <p:cNvSpPr/>
          <p:nvPr/>
        </p:nvSpPr>
        <p:spPr>
          <a:xfrm>
            <a:off x="6519672" y="3657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67728" y="358444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Integration
</a:t>
            </a:r>
            <a:pPr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existing security operations.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19672" y="4526280"/>
            <a:ext cx="329184" cy="3291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34" name="Text 32"/>
          <p:cNvSpPr/>
          <p:nvPr/>
        </p:nvSpPr>
        <p:spPr>
          <a:xfrm>
            <a:off x="6519672" y="4526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67728" y="44531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Integration
</a:t>
            </a:r>
            <a:pPr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transaction monitoring.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19672" y="5394960"/>
            <a:ext cx="329184" cy="329184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37" name="Text 35"/>
          <p:cNvSpPr/>
          <p:nvPr/>
        </p:nvSpPr>
        <p:spPr>
          <a:xfrm>
            <a:off x="6519672" y="5394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67728" y="53218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Rollout
</a:t>
            </a:r>
            <a:pPr indent="0" marL="0">
              <a:buNone/>
            </a:pPr>
            <a:r>
              <a:rPr lang="en-US" sz="105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across branches and banking services.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Link &amp; Supporting Diagrams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176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github.com/rajaguru2004/sentinel_fusion_ai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ml/  — training pipeline, benchmark, experiments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1729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demo/  — SOC demo engine &amp; interactive menu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51129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tests/  — 99-test suite (unit/quality/perf)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84962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benchmarks/  — committed baseline floors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1879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data/, notebooks/, docs/, reports/  — Phase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49377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throughout • full retrain in ~30s • 99-test pytest suite • benchmark regression gate on every run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463040"/>
            <a:ext cx="5330952" cy="4663440"/>
          </a:xfrm>
          <a:prstGeom prst="roundRect">
            <a:avLst>
              <a:gd name="adj" fmla="val 1765"/>
            </a:avLst>
          </a:prstGeom>
          <a:solidFill>
            <a:srgbClr val="0A1B33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1691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DIAGRAMS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29400" y="210312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227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12280" y="2249424"/>
            <a:ext cx="384048" cy="384048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2494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60920" y="21031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Correlation Pipeline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29400" y="2944368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2274A"/>
          </a:solidFill>
          <a:ln/>
        </p:spPr>
      </p:sp>
      <p:sp>
        <p:nvSpPr>
          <p:cNvPr id="22" name="Shape 20"/>
          <p:cNvSpPr/>
          <p:nvPr/>
        </p:nvSpPr>
        <p:spPr>
          <a:xfrm>
            <a:off x="6812280" y="3090672"/>
            <a:ext cx="384048" cy="384048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60920" y="29443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Workflow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29400" y="3785616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2274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12280" y="3931920"/>
            <a:ext cx="384048" cy="384048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60920" y="378561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29400" y="4626864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2274A"/>
          </a:solidFill>
          <a:ln/>
        </p:spPr>
      </p:sp>
      <p:sp>
        <p:nvSpPr>
          <p:cNvPr id="30" name="Shape 28"/>
          <p:cNvSpPr/>
          <p:nvPr/>
        </p:nvSpPr>
        <p:spPr>
          <a:xfrm>
            <a:off x="6812280" y="4773168"/>
            <a:ext cx="384048" cy="384048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31" name="Text 29"/>
          <p:cNvSpPr/>
          <p:nvPr/>
        </p:nvSpPr>
        <p:spPr>
          <a:xfrm>
            <a:off x="6812280" y="4773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60920" y="462686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/ Fusion Pipeline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Potential and Relevance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NEED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are investing heavily in AI-driven cybersecurity as fraud losses and sophisticated cyber attacks accelerate.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786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53288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fraud losses through proactive, cross-domain detection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99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9535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SOC analyst productivity with a single explainable verdict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19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37413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false-positive rates versus siloed rule-based tools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7947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quantum-security readiness ahead of regulation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611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21538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across retail, corporate &amp; payment-gateway banking, insurance and fintech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594360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0292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Potential: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Evolves into an enterprise Cyber Threat Intelligence platform, serving multiple financial institutions through a cloud-based AI security service.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0" y="1417320"/>
            <a:ext cx="4782312" cy="4754880"/>
          </a:xfrm>
          <a:prstGeom prst="roundRect">
            <a:avLst>
              <a:gd name="adj" fmla="val 1731"/>
            </a:avLst>
          </a:prstGeom>
          <a:solidFill>
            <a:srgbClr val="0A1B33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78040" y="1600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NOT PROMISED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19659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0.972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78040" y="24505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fusion ROC-AUC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78040" y="28803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&lt;100 ms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178040" y="33649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event-to-verdict decision latency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78040" y="37947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2.04M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178040" y="42793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events across 14 datasets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78040" y="47091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 / 99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178040" y="51937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Uniqueness of Approach and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727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Separate cyber &amp; transaction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Rule-based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 false-positive rates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0A1B33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15727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73952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AI-driven, cross-domain event correlation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73952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Unified, calibrated risk scoring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3952" y="26700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Explainable AI — a reason for every verdict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86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Telemetry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Transactions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54680" y="388620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37560" y="38862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3886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Correlation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0" y="388620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26480" y="38862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886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732520" y="3886200"/>
            <a:ext cx="182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915400" y="38862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EF476F"/>
          </a:solidFill>
          <a:ln/>
        </p:spPr>
      </p:sp>
      <p:sp>
        <p:nvSpPr>
          <p:cNvPr id="25" name="Text 23"/>
          <p:cNvSpPr/>
          <p:nvPr/>
        </p:nvSpPr>
        <p:spPr>
          <a:xfrm>
            <a:off x="8915400" y="3886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Threat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5120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by the numbers: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behaviour model improved from 0.584 to 0.817 ROC-AUC through a gated challenger promotion (LightGBM beat IsolationForest, LOF and ECOD) — lifting overall fusion accuracy from 0.958 to 0.972.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Login → VPN Login → High-Value Transaction → AI Correlation → High-Risk Alert.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Experience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Dashboard — one screen, one explainable verdict.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949440" cy="4343400"/>
          </a:xfrm>
          <a:prstGeom prst="roundRect">
            <a:avLst>
              <a:gd name="adj" fmla="val 1895"/>
            </a:avLst>
          </a:prstGeom>
          <a:solidFill>
            <a:srgbClr val="12274A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INCIDENT — SF-2026-0417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1417320" cy="141732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242316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Alert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₹4.6M transfer to a new beneficiary, on a never-seen login country, over quantum-breakable TLS — destination matched to a known QakBot C2 server.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6400800" cy="0"/>
          </a:xfrm>
          <a:prstGeom prst="line">
            <a:avLst/>
          </a:prstGeom>
          <a:noFill/>
          <a:ln w="12700">
            <a:solidFill>
              <a:srgbClr val="2436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8795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— IN PLAIN LANGUAGE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New device &amp; never-seen login country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PowerShell touched security files (MITRE T1059)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Transfer amount is 300× this customer's normal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Recommended action: freeze → isolate → escalate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18120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18120" y="2148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Unified risk score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18120" y="2468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Attack timeline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18120" y="27889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explanation (SHAP)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18120" y="3108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Recommended action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1812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18120" y="4023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Faster analyst response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18120" y="4343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explainable AI verdicts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818120" y="4663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Fewer false alarms to chase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GROW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enterprise-scale banking with a secure, modular, high-performance AI architecture.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Capabilities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Multi-bank &amp; multi-branch deployments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Processes millions of daily transactions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event streaming &amp; analysis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 latency sustained under load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Architecture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Modular microservices architecture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Horizontal scaling, cloud-native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1772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Seamless integration with core banking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1772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Independent deployment per AI module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92024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Expansion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1248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Integrates with SIEM platforms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0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Hybrid &amp; multi-cloud ready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0" y="3566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Extends with new detection models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2480" y="4069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Ready for quantum-security upgrades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0A1B33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074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68680" y="5513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rows/sec batch scoring (behaviour)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30168" y="5074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955K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30168" y="5513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verdicts/sec, cross-domain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91656" y="5074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1.4 ms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91656" y="5513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single-event latency, per model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53144" y="5074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 ms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153144" y="5513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5-event incident incl. live SHAP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Ease of Deployment and Maintenance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Docker &amp; Kubernetes for reliable deployment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 &amp; REST APIs for easy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Cloud-native microservices for scalability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Supports cloud, hybrid &amp; on-premise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Independent AI model updates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3891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Continuous model retraining, ~30s full cycle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7091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dataset versioning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50292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Modular architecture for easy upgrades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9632" y="146304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0A1B33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16459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19672" y="2057400"/>
            <a:ext cx="310896" cy="310896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18" name="Text 16"/>
          <p:cNvSpPr/>
          <p:nvPr/>
        </p:nvSpPr>
        <p:spPr>
          <a:xfrm>
            <a:off x="6519672" y="20574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67728" y="1984248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deployment
</a:t>
            </a:r>
            <a:pPr indent="0" marL="0">
              <a:buNone/>
            </a:pPr>
            <a:r>
              <a:rPr lang="en-US" sz="10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environment stood up in hours, not weeks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19672" y="2807208"/>
            <a:ext cx="310896" cy="310896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8072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7728" y="2734056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updates
</a:t>
            </a:r>
            <a:pPr indent="0" marL="0">
              <a:buNone/>
            </a:pPr>
            <a:r>
              <a:rPr lang="en-US" sz="10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Champion/challenger promotion, gated by benchmarks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19672" y="3557016"/>
            <a:ext cx="310896" cy="310896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35570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67728" y="3483864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maintenance effort
</a:t>
            </a:r>
            <a:pPr indent="0" marL="0">
              <a:buNone/>
            </a:pPr>
            <a:r>
              <a:rPr lang="en-US" sz="10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 retrain on a laptop CPU, no GPU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19672" y="4306824"/>
            <a:ext cx="310896" cy="310896"/>
          </a:xfrm>
          <a:prstGeom prst="ellipse">
            <a:avLst/>
          </a:prstGeom>
          <a:solidFill>
            <a:srgbClr val="00E5C7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306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67728" y="423367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scalability
</a:t>
            </a:r>
            <a:pPr indent="0" marL="0">
              <a:buNone/>
            </a:pPr>
            <a:r>
              <a:rPr lang="en-US" sz="10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artifacts scale from pilot to production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13892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4-model + fusion pipeline retrains from raw parquet in about 30 seconds on a 12-core laptop, with zero GPU dependency — and every promotion is gated by a 99-test suite plus a benchmark regression check before it ships.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Considerations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Security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TLS-encrypted communication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9864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RBAC with multi-factor authentication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55701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Secure encryption of customer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Security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2240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Local ML inference only — no external calls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89864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Explainable AI using SHAP, per decision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355701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logging &amp; secure model 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0A1B33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E5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Readiness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12480" y="2240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Detects HNDL attack patterns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289864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Monitors vulnerable cryptography (TLS)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3557016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Quantum-risk model scores 1.000 ROC-AUC on its deterministic rule 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quantum-risk verdict is deterministic and auditable by design — a score drop signals data breakage before it signals a false alarm.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 &amp; Images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594360"/>
          </a:xfrm>
          <a:prstGeom prst="roundRect">
            <a:avLst>
              <a:gd name="adj" fmla="val 10769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Payment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1508760"/>
            <a:ext cx="2606040" cy="594360"/>
          </a:xfrm>
          <a:prstGeom prst="roundRect">
            <a:avLst>
              <a:gd name="adj" fmla="val 10769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5087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Process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2606040" cy="594360"/>
          </a:xfrm>
          <a:prstGeom prst="roundRect">
            <a:avLst>
              <a:gd name="adj" fmla="val 10769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5087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Login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915400" y="1508760"/>
            <a:ext cx="2606040" cy="594360"/>
          </a:xfrm>
          <a:prstGeom prst="roundRect">
            <a:avLst>
              <a:gd name="adj" fmla="val 10769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15087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TLS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12140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↓  ↓  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688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246888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4688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4688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Analytics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2468880"/>
            <a:ext cx="2606040" cy="685800"/>
          </a:xfrm>
          <a:prstGeom prst="roundRect">
            <a:avLst>
              <a:gd name="adj" fmla="val 9333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915400" y="24688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/ HNDL Risk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43200" y="3520440"/>
            <a:ext cx="6675120" cy="777240"/>
          </a:xfrm>
          <a:prstGeom prst="roundRect">
            <a:avLst>
              <a:gd name="adj" fmla="val 9412"/>
            </a:avLst>
          </a:prstGeom>
          <a:solidFill>
            <a:srgbClr val="0A1B33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352044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Fusion Engine — isotonic calibration → weighted noisy-OR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31920" y="4663440"/>
            <a:ext cx="4297680" cy="685800"/>
          </a:xfrm>
          <a:prstGeom prst="roundRect">
            <a:avLst>
              <a:gd name="adj" fmla="val 10667"/>
            </a:avLst>
          </a:prstGeom>
          <a:solidFill>
            <a:srgbClr val="EF476F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0" y="46634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Verdict — low / medium / high / critical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394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              ↓              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280160" y="5687568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56875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Per Event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5687568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56875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03920" y="5687568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56875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Threat-Intel Match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Feodo · MITRE · KEV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Screenshots, Video &amp; GitHub Link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9659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89738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36499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github.com/rajaguru2004/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sentinel_fusion_ai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92140" y="19659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69214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26280" y="2971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Video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336499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SOC walkthrough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(link on Google Drive)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86900" y="19659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48690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321040" y="2971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21040" y="3364992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setup guide &amp;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docs in the README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0A1B33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8920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CONTRACT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scenarios are built from real, labeled test rows — every probability, SHAP value and watchlist hit is computed live by the trained artifacts. Predictions are never faked or hard-coded.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227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840480" cy="3840480"/>
          </a:xfrm>
          <a:prstGeom prst="ellipse">
            <a:avLst/>
          </a:prstGeom>
          <a:solidFill>
            <a:srgbClr val="1227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68680" y="2788920"/>
            <a:ext cx="914400" cy="45720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Threats Never Sleep.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Does Sentinel Fusion AI.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 •  EXPLAINABLE  •  QUANTUM-READY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10515600" cy="0"/>
          </a:xfrm>
          <a:prstGeom prst="line">
            <a:avLst/>
          </a:prstGeom>
          <a:noFill/>
          <a:ln w="12700">
            <a:solidFill>
              <a:srgbClr val="2436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SKILLHIVE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2026-07-24T19:53:36Z</dcterms:created>
  <dcterms:modified xsi:type="dcterms:W3CDTF">2026-07-24T19:53:36Z</dcterms:modified>
</cp:coreProperties>
</file>